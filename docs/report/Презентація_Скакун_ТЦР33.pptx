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54112" y="0"/>
            <a:ext cx="64008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0D6EFD"/>
                </a:solidFill>
              </a:rPr>
              <a:t>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B5BD"/>
                </a:solidFill>
              </a:rPr>
              <a:t>ДЕРЖАВНИЙ УНІВЕРСИТЕТ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B5BD"/>
                </a:solidFill>
              </a:rPr>
              <a:t>ІНФОРМАЦІЙНО-КОМУНІКАЦІЙНИХ ТЕХНОЛОГІЙ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5AA"/>
                </a:solidFill>
              </a:rPr>
              <a:t>Кафедра інженерії програмного забезпечення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132320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КУРСОВИЙ ПРОЕКТ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Система управління інвентарем
для ІТ-департаменту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DB5BD"/>
                </a:solidFill>
              </a:rPr>
              <a:t>Облік ліцензій, обладнання, серійних номерів
з ролями користувачів та авторизацією на основі JWT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7132320" cy="3657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Виконав:  студент гр. ТЦР-33  Скакун Михайло Миколайович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Керівник:  Ніщеменко Дмитро Олександрович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Київ —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57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DB5BD"/>
                </a:solidFill>
              </a:rPr>
              <a:t>ТЕХНОЛОГІЧНИЙ СТЕК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005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☕  Java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6642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🍃  Spring Boot 3.3.5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3225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🔐  Spring Security + 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98094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🗄  PostgreSQL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39311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📨  RabbitMQ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29767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🐳  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956047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🧪  Testcontainers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Актуальність та мета роботи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00" cy="52120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73152" cy="52120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56004"/>
                </a:solidFill>
              </a:rPr>
              <a:t>⚠  ПРОБЛЕМА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120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A4000"/>
                </a:solidFill>
              </a:rPr>
              <a:t>●  Облік обладнання ведеться у Excel-таблицях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5120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A4000"/>
                </a:solidFill>
              </a:rPr>
              <a:t>●  Відсутній контроль терміну дії ліцензій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08375"/>
            <a:ext cx="5120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A4000"/>
                </a:solidFill>
              </a:rPr>
              <a:t>●  Немає розмежування доступу за ролями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9583"/>
            <a:ext cx="5120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A4000"/>
                </a:solidFill>
              </a:rPr>
              <a:t>●  Втрата інформації при звільненні співробітника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50791"/>
            <a:ext cx="5120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A4000"/>
                </a:solidFill>
              </a:rPr>
              <a:t>●  Немає аудиту дій адміністраторів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5120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A4000"/>
                </a:solidFill>
              </a:rPr>
              <a:t>●  Ручний облік → помилки та дублювання даних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669280" cy="5212080"/>
          </a:xfrm>
          <a:prstGeom prst="rect">
            <a:avLst/>
          </a:prstGeom>
          <a:solidFill>
            <a:srgbClr val="D1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73152" cy="52120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532E"/>
                </a:solidFill>
              </a:rPr>
              <a:t>✅  РІШЕННЯ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53035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A532E"/>
                </a:solidFill>
              </a:rPr>
              <a:t>●  Централізована веб-система для ІТ-департаменту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53035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A532E"/>
                </a:solidFill>
              </a:rPr>
              <a:t>●  RBAC: чотири ролі (Admin/TeamLead/Worker/Auditor)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08375"/>
            <a:ext cx="53035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A532E"/>
                </a:solidFill>
              </a:rPr>
              <a:t>●  JWT-авторизація для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29583"/>
            <a:ext cx="53035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A532E"/>
                </a:solidFill>
              </a:rPr>
              <a:t>●  Сповіщення про прострочені ліцензії (RabbitMQ)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50791"/>
            <a:ext cx="53035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A532E"/>
                </a:solidFill>
              </a:rPr>
              <a:t>●  Повний аудит-лог усіх змін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72000"/>
            <a:ext cx="53035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A532E"/>
                </a:solidFill>
              </a:rPr>
              <a:t>●  Excel-звіти по обладнанню та ліцензіях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008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C757D"/>
                </a:solidFill>
              </a:rPr>
              <a:t>Мета: розробити систему управління ІТ-інвентарем з повноцінною автентифікацією, розмежуванням доступу та автоматизованим обліком активів.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Архітектура системи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Тришарова монолітна архітектура + асинхронна черга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772400" cy="14173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14173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6EFD"/>
                </a:solidFill>
              </a:rPr>
              <a:t>🌐  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Thymeleaf (веб-інтерфейс)   ·  REST Controllers (/api/v1/...)   ·  Swagger UI / OpenAPI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C757D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7772400" cy="14173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109728" cy="14173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278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98754"/>
                </a:solidFill>
              </a:rPr>
              <a:t>⚙️  Business Logic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Services (Equipment, License, User...)   ·  Spring Security + JWT Filter   ·  RabbitMQ Producer/Consumer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C757D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7772400" cy="14173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109728" cy="1417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109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C3545"/>
                </a:solidFill>
              </a:rPr>
              <a:t>🗄  Data Access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40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JPA Repositories + Hibernate 6   ·  Flyway Migrations (V1–V4)   ·  PostgreSQL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Зовнішні компоненти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1828800"/>
            <a:ext cx="338328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9019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🐳 Docker 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402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PostgreSQL + RabbitMQ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926080"/>
            <a:ext cx="338328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9992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🔑 JJWT 0.12.6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337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Access + Refresh tokens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4023360"/>
            <a:ext cx="338328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40965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📊 Apache POI 5.3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434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Excel-звіти (.xlsx)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5120640"/>
            <a:ext cx="338328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51937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🧪 Testcontainers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532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Інтеграційні тести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Модель розмежування доступу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Role-Based Access Control — 4 ролі, матриця прав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👑 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2743200" cy="43891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Повний доступ до всіх ресурсів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505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Управління користувачами та об'єктами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8094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Перегляд журналу аудиту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5112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Генерація Excel-звітів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28800"/>
            <a:ext cx="54864" cy="43891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325880"/>
            <a:ext cx="2743200" cy="5029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🏆  TEAM LEAD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828800"/>
            <a:ext cx="2743200" cy="43891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Управління командою свого об'єкта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4505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Додавання/редагування обладнання та ліцензій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98094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Перегляд свого об'єкта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5112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Генерація звітів по своєму об'єкту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1828800"/>
            <a:ext cx="54864" cy="43891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325880"/>
            <a:ext cx="2743200" cy="5029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👷  WORKER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828800"/>
            <a:ext cx="2743200" cy="43891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9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Перегляд свого інвентарю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24505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Перегляд призначених ліцензій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298094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Особистий дашборд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35112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Без доступу до адмін-панелі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828800"/>
            <a:ext cx="54864" cy="43891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1325880"/>
            <a:ext cx="2743200" cy="502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🔍  AUDITOR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1828800"/>
            <a:ext cx="2743200" cy="43891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Read-only доступ до всіх даних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4505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Перегляд журналу аудиту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98094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Без права на зміни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35112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 Звіти та статистика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1828800"/>
            <a:ext cx="54864" cy="43891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4652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</a:rPr>
              <a:t>Реалізація: @PreAuthorize("hasRole('ADMIN')") + InventoryPermissionEvaluator (hasPermission) на рівні сервісів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Система автентифікації —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Два SecurityFilterChain: stateless API + session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103120" cy="12801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828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POST /api/v1/auth/login
{username, password}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4328" y="1463040"/>
            <a:ext cx="2103120" cy="12801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28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BCrypt verify
password 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0056" y="1463040"/>
            <a:ext cx="2103120" cy="1280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828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generateAccessToken
(15 хв, HS256)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15783" y="1463040"/>
            <a:ext cx="2103120" cy="128016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88936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1828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Refresh Token
(30 днів, DB)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4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1512" y="1463040"/>
            <a:ext cx="2103120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4664" y="1828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Authorization: Bearer
&lt;token&gt;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6EFD"/>
                </a:solidFill>
              </a:rPr>
              <a:t>FilterChain 1 — REST API  (/api/**)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2900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@Order(1)  — обробляється першим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04487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CSRF disabled, SessionPolicy = STATELESS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79975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JwtAuthenticationFilter перехоплює кожен запит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55463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Витягує userId з токена → SecurityContext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30951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Ендпоінти: /api/v1/equipment, /api/v1/licenses 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175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A4A"/>
                </a:solidFill>
              </a:rPr>
              <a:t>FilterChain 2 — Web / Thymeleaf  (/**)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429000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@Order(2) — обробляє сесійний веб-трафік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04487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CSRF enabled (th:action додає токен)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379975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Form-login: /login → defaultSuccessUrl=/dashboard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855463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Session-based auth через JSESSIONID cookie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330951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Logout: POST /web/logout → /login?logout=true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971800"/>
            <a:ext cx="45720" cy="36576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Шаблони проектування (GoF)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7 патернів, реалізованих у проекті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43200" cy="1600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64008" cy="1600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447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🏭  Factory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783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EquipmentFactory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84832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forType(type) повертає ConcreteFactory залежно від типу обладнання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371600"/>
            <a:ext cx="2743200" cy="1600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27248" y="1371600"/>
            <a:ext cx="64008" cy="1600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447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📋 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83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EquipmentSpecification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84832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Комбінує фільтри (siteId, status, type, q) через Specification&lt;T&gt;.and()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1371600"/>
            <a:ext cx="2743200" cy="1600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0176" y="1371600"/>
            <a:ext cx="64008" cy="1600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14447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👁  Observer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1783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AuditLogListener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084832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@EventListener реагує на EntityChangedEvent і зберігає аудит (REQUIRES_NEW)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33104" y="1371600"/>
            <a:ext cx="2743200" cy="1600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33104" y="1371600"/>
            <a:ext cx="64008" cy="1600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14447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🔀 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1783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NotificationStrategy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2084832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Email/InApp/Telegram — єдиний інтерфейс, динамічний вибір стратегії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54680"/>
            <a:ext cx="2743200" cy="1600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64008" cy="1600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22783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🔨  Builder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35661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EquipmentReportRequest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67912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Lombok @Builder для конструювання складних DTO запитів на звіти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3154680"/>
            <a:ext cx="2743200" cy="1600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27248" y="3154680"/>
            <a:ext cx="64008" cy="1600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322783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🎨  Decorator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5661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LicenseKeyAttributeConverter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867912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@Convert AES-256-GCM шифрує ліцензійні ключі прозоро для бізнес-логіки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0176" y="3154680"/>
            <a:ext cx="2743200" cy="1600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0176" y="3154680"/>
            <a:ext cx="64008" cy="16002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322783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☝  Singleton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5661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JwtService / ReportStore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3867912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Spring singleton beans; ReportStore — ConcurrentHashMap для in-memory зберігання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Модель бази даних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PostgreSQL 16 · 7 таблиць · Flyway міграції V1–V4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286000" cy="658368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270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417320"/>
            <a:ext cx="932688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4538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Об'єкти (відділення)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76479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id, name, address, city, team_lead_id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48840"/>
            <a:ext cx="2286000" cy="65836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58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148840"/>
            <a:ext cx="932688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1854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Користувачі системи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49631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id, username, email, role, site_id, 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80360"/>
            <a:ext cx="2286000" cy="65836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900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equipment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880360"/>
            <a:ext cx="932688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9169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Обладнання (активи)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22783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id, inventory_number, type, status, assigned_user_id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80"/>
            <a:ext cx="2286000" cy="65836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216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licenses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611880"/>
            <a:ext cx="932688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36484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Програмні ліцензії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95935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id, software_name, license_key (AES), seats_total/used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43400"/>
            <a:ext cx="2286000" cy="65836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4531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audit_logs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343400"/>
            <a:ext cx="932688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4379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Журнал аудиту (JSONB payload)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69087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id, actor_user_id, action, entity_type, entity_id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074920"/>
            <a:ext cx="2286000" cy="65836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1846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refresh_tokens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5074920"/>
            <a:ext cx="932688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51114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Refresh-токени (ротація)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542239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id, user_id, token, expires_at, revoked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806440"/>
            <a:ext cx="2286000" cy="658368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916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5806440"/>
            <a:ext cx="932688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5843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Сповіщення (RabbitMQ)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615391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id, recipient_user_id, type, status, payload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Особливості: UUID первинні ключі · CHECK constraints замість PostgreSQL ENUM (Hibernate 6 сумісність) · JSONB для payload · AES-256-GCM для license_key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Діаграма класів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UML — ключові пакети та зв'язки між ними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T-Inventory Class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Sequence-діаграма: JWT авторизація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POST /api/v1/auth/login → Access Token + Refresh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in 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REST API — ключові ендпоінти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Prefix: /api/v1/ · Формат помилок: RFC 7807 ProblemDetail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11750040" cy="4114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Метод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Шлях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371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Опис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11750040" cy="402336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783080"/>
            <a:ext cx="914400" cy="31089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801368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7922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/auth/login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792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79222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Отримати access + refresh токени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39696"/>
            <a:ext cx="11750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185415"/>
            <a:ext cx="914400" cy="31089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203703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1945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/auth/refresh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945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1945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Оновити access токен (ротація refresh)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542032"/>
            <a:ext cx="11750040" cy="402336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587751"/>
            <a:ext cx="914400" cy="31089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2606039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25968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/equipment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596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ADMIN/LEAD/WORKER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59689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Список обладнання (фільтр, пагінація)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944368"/>
            <a:ext cx="11750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2990087"/>
            <a:ext cx="914400" cy="31089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008375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29992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/equipment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9992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ADMIN/LEAD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99923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Додати нове обладнання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346703"/>
            <a:ext cx="11750040" cy="402336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3392423"/>
            <a:ext cx="914400" cy="31089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3410711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34015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/equipment/{id}/assign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4015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ADMIN/LEAD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4015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Призначити обладнання користувачу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749039"/>
            <a:ext cx="11750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" y="3794759"/>
            <a:ext cx="914400" cy="31089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3813048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380390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/licenses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3803903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ADMIN/LEAD/WORKER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3803903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Список ліцензій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151376"/>
            <a:ext cx="11750040" cy="402336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8600" y="4197096"/>
            <a:ext cx="914400" cy="31089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" y="4215384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4206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/licenses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42062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ADMIN/LEAD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42062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Додати нову ліцензію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4553712"/>
            <a:ext cx="11750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8600" y="4599432"/>
            <a:ext cx="914400" cy="31089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" y="4617720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4440" y="46085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/users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46085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ADMIN/AUDITOR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460857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Список користувачів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4956048"/>
            <a:ext cx="11750040" cy="402336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28600" y="5001768"/>
            <a:ext cx="914400" cy="31089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" y="5020056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34440" y="50109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/users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0" y="5010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ADMIN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6600" y="501091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Створити користувача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5358384"/>
            <a:ext cx="11750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28600" y="5404104"/>
            <a:ext cx="914400" cy="31089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" y="5422392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34440" y="54132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/audit-log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0560" y="54132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ADMIN/AUDITOR/LEAD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6600" y="541324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Журнал аудиту (фільтр)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5760720"/>
            <a:ext cx="11750040" cy="402336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28600" y="5806440"/>
            <a:ext cx="914400" cy="31089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6032" y="5824728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34440" y="58155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/reports/inventory.xlsx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60" y="58155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ADMIN/AUDITOR/LEAD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600" y="581558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Запит на генерацію Excel-звіту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6163056"/>
            <a:ext cx="11750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28600" y="6208776"/>
            <a:ext cx="914400" cy="31089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032" y="6227064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34440" y="6217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A4A"/>
                </a:solidFill>
              </a:rPr>
              <a:t>/reports/{id}/download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80560" y="62179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42C1"/>
                </a:solidFill>
              </a:rPr>
              <a:t>Authenticated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86600" y="62179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Завантажити готовий звіт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Веб-інтерфейс — Thymeleaf + Bootstrap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Адаптивний інтерфейс з рольовою видимістю елементів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5760720" cy="26060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📱 Сторінка входу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C757D"/>
                </a:solidFill>
              </a:rPr>
              <a:t>[screenshots/login.png]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5760720" cy="26060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📱 Дашборд адміна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C757D"/>
                </a:solidFill>
              </a:rPr>
              <a:t>[screenshots/dashboard_admin.png]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160520"/>
            <a:ext cx="5760720" cy="26060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1663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📱 Список обладнання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C757D"/>
                </a:solidFill>
              </a:rPr>
              <a:t>[screenshots/equipment_list.png]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160520"/>
            <a:ext cx="5760720" cy="26060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51663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📱 Журнал аудиту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C757D"/>
                </a:solidFill>
              </a:rPr>
              <a:t>[screenshots/audit_log.png]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6492240"/>
            <a:ext cx="1175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Особливості UI: sec:authorize на &lt;li&gt; елементах · th:action для CSRF · Пагінація · Фільтри · Bootstrap 5 модальні вікна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Тестування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Unit tests (Mockito) + Integration tests (Testcontainers) + JaCoCo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A4A"/>
                </a:solidFill>
              </a:rPr>
              <a:t>🧪  Юніт-тести (Mockito)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JwtServiceTest — генерація/валідація токена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7743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EquipmentServiceTest — create/assign бізнес-правила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5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–  conflictException при дублікаті serialNumber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7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–  businessRuleException при різних siteId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88619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LicenseServiceTest — перевірка seatsUsed/Total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8911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AuditLogListenerTest — Observer, REQUIRES_NEW 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A4A"/>
                </a:solidFill>
              </a:rPr>
              <a:t>🔗  Інтеграційні тести (Testcontainers)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AbstractIntegrationTest — PostgreSQL + RabbitMQ у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39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AuthIntegrationTest (6 тестів):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5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–  login valid/invalid credentials → 200/401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7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–  token refresh + ротація refresh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8619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–  protected endpoint без/з токеном → 401/200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89119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●  EquipmentIntegrationTest — CRUD + аудит + 403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71600"/>
            <a:ext cx="45720" cy="521208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6080760"/>
            <a:ext cx="11640312" cy="685800"/>
          </a:xfrm>
          <a:prstGeom prst="rect">
            <a:avLst/>
          </a:prstGeom>
          <a:solidFill>
            <a:srgbClr val="D1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172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532E"/>
                </a:solidFill>
              </a:rPr>
              <a:t>✅  JaCoCo: мінімум покриття 60% (налаштовано у pom.xml). Звіт: target/site/jacoco/index.html. Всього тестів: 31 (20 unit + 11 integration).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Контейнеризація —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B5BD"/>
                </a:solidFill>
              </a:rPr>
              <a:t>Multi-stage Dockerfile + docker-compose.yml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A4A"/>
                </a:solidFill>
              </a:rPr>
              <a:t>Multi-stage Dockerfile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39496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9DDFF"/>
                </a:solidFill>
              </a:rPr>
              <a:t># Stage 1 — збірка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854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3E88D"/>
                </a:solidFill>
              </a:rPr>
              <a:t>FROM eclipse-temurin:17-jdk-alpine AS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505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COPY .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157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RUN mvn package -DskipTests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809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461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9DDFF"/>
                </a:solidFill>
              </a:rPr>
              <a:t># Stage 2 — runtime (мінімальний образ)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112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3E88D"/>
                </a:solidFill>
              </a:rPr>
              <a:t>FROM eclipse-temurin:17-jre-alpine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7764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COPY --from=build target/*.jar app.jar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416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ENTRYPOINT ["java","-jar","/app.jar"]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417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A4A"/>
                </a:solidFill>
              </a:rPr>
              <a:t>docker-compose.yml — сервіси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828800"/>
            <a:ext cx="594360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828800"/>
            <a:ext cx="73152" cy="1188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90195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🗄  inventory_postgres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2494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postgres:16-alpine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420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Port 5432 · DB: inventory · Volume: pgdata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127248"/>
            <a:ext cx="594360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3127248"/>
            <a:ext cx="73152" cy="1188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2004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📨  inventory_rabbitmq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5478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rabbitmq:3-management-alpine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8404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AMQP 5672 · UI 15672 · healthcheck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425696"/>
            <a:ext cx="5943600" cy="11887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4425696"/>
            <a:ext cx="73152" cy="1188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49884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☕  inventory_app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8463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EFD"/>
                </a:solidFill>
              </a:rPr>
              <a:t>inventory-system:latest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389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Port 8080 · залежить від postgres + rabbit · profiles: prod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1663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A4A"/>
                </a:solidFill>
              </a:rPr>
              <a:t>Запуск: docker compose up -d     |     Зупинка: docker compose down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ВИСНОВКИ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62179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8754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1615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Розроблено повнофункціональну систему управління ІТ-інвентарем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92224"/>
            <a:ext cx="11430000" cy="62179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836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8754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11095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Реалізовано RBAC з 4 ролями та JWT-авторизацію (access + refresh token)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87168"/>
            <a:ext cx="11430000" cy="62179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8754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39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Застосовано 7 шаблонів проектування GoF у реальному коді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82111"/>
            <a:ext cx="11430000" cy="62179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8754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00983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Реалізовано асинхронну генерацію Excel-звітів через RabbitMQ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77055"/>
            <a:ext cx="11430000" cy="62179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6849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8754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95927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Написано 31 тест (unit + integration) з покриттям ≥ 60% (JaCoCo)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71999"/>
            <a:ext cx="11430000" cy="62179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6343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8754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90871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Проект контейнеризовано через Docker + docker-compose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66943"/>
            <a:ext cx="11430000" cy="62179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5838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8754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85815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Документацію API згенеровано через SpringDoc / Swagger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72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DB5BD"/>
                </a:solidFill>
              </a:rPr>
              <a:t>Перспективи розвитку: мобільний застосунок · QR-коди на обладнання · Telegram-бот для сповіщень · SSO (OAuth2)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7315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0D6EFD"/>
                </a:solidFill>
              </a:rPr>
              <a:t>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Дякую за увагу!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DB5BD"/>
                </a:solidFill>
              </a:rPr>
              <a:t>Система управління інвентарем для ІТ-департаменту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023360"/>
            <a:ext cx="5788152" cy="4572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👤  Скакун Михайло Миколайович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🎓  Група ТЦР-33  ·  ДУІКТ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👨‍🏫  Керівник: Ніщеменко Д. 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💻  github.com/TimeDustik/kursova_java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C757D"/>
                </a:solidFill>
              </a:rPr>
              <a:t>Київ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